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24384000" cy="13716000"/>
  <p:notesSz cx="6858000" cy="9144000"/>
  <p:embeddedFontLst>
    <p:embeddedFont>
      <p:font typeface="Pretendard Light" panose="020B0600000101010101" charset="-127"/>
      <p:regular r:id="rId17"/>
    </p:embeddedFont>
    <p:embeddedFont>
      <p:font typeface="Pretendard Regular" panose="020B0600000101010101" charset="-127"/>
      <p:regular r:id="rId18"/>
    </p:embeddedFont>
    <p:embeddedFont>
      <p:font typeface="Pretendard SemiBold" panose="020B0600000101010101" charset="-127"/>
      <p:bold r:id="rId19"/>
    </p:embeddedFont>
    <p:embeddedFont>
      <p:font typeface="Tiro Tamil Regular" panose="020B0600000101010101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883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hyperlink" Target="https://github.com/ehskdms06/3Dcoordinate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1200" y="92710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92710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8851900"/>
            <a:ext cx="23114000" cy="4343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231900"/>
            <a:ext cx="23685500" cy="814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1612900" y="12509500"/>
            <a:ext cx="114808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10600" y="11061700"/>
            <a:ext cx="1460500" cy="1460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700000">
            <a:off x="21983700" y="11595100"/>
            <a:ext cx="5207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900000">
            <a:off x="21983700" y="11976100"/>
            <a:ext cx="5207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53500" y="11785600"/>
            <a:ext cx="7874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5600" y="3136900"/>
            <a:ext cx="5880100" cy="12192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512300" y="3416300"/>
            <a:ext cx="5359400" cy="711200"/>
          </a:xfrm>
          <a:prstGeom prst="rect">
            <a:avLst/>
          </a:prstGeom>
        </p:spPr>
        <p:txBody>
          <a:bodyPr lIns="0" tIns="37293" rIns="0" bIns="37293" rtlCol="0" anchor="ctr"/>
          <a:lstStyle/>
          <a:p>
            <a:pPr lvl="0" algn="ctr">
              <a:lnSpc>
                <a:spcPct val="99600"/>
              </a:lnSpc>
            </a:pPr>
            <a:r>
              <a:rPr lang="en-US" sz="3299" b="0" i="0" u="none" strike="noStrike" dirty="0" err="1">
                <a:solidFill>
                  <a:srgbClr val="272727"/>
                </a:solidFill>
                <a:latin typeface="Tiro Tamil Regular"/>
                <a:cs typeface="Tiro Tamil Regular"/>
              </a:rPr>
              <a:t>전자공학기초실험</a:t>
            </a:r>
            <a:r>
              <a:rPr lang="en-US" sz="3299" b="0" i="0" u="none" strike="noStrike" dirty="0">
                <a:solidFill>
                  <a:srgbClr val="272727"/>
                </a:solidFill>
                <a:latin typeface="Tiro Tamil Regular"/>
                <a:cs typeface="Tiro Tamil Regular"/>
              </a:rPr>
              <a:t> </a:t>
            </a:r>
            <a:r>
              <a:rPr lang="ko-KR" altLang="en-US" sz="3299" dirty="0">
                <a:solidFill>
                  <a:srgbClr val="272727"/>
                </a:solidFill>
                <a:latin typeface="Tiro Tamil Regular"/>
                <a:cs typeface="Tiro Tamil Regular"/>
              </a:rPr>
              <a:t>최종</a:t>
            </a:r>
            <a:r>
              <a:rPr lang="en-US" sz="3299" b="0" i="0" u="none" strike="noStrike" dirty="0">
                <a:solidFill>
                  <a:srgbClr val="272727"/>
                </a:solidFill>
                <a:latin typeface="Tiro Tamil Regular"/>
                <a:cs typeface="Tiro Tamil Regular"/>
              </a:rPr>
              <a:t> </a:t>
            </a:r>
            <a:r>
              <a:rPr lang="en-US" sz="3299" b="0" i="0" u="none" strike="noStrike" dirty="0" err="1">
                <a:solidFill>
                  <a:srgbClr val="272727"/>
                </a:solidFill>
                <a:latin typeface="Tiro Tamil Regular"/>
                <a:cs typeface="Tiro Tamil Regular"/>
              </a:rPr>
              <a:t>발표</a:t>
            </a:r>
            <a:endParaRPr lang="en-US" sz="3299" b="0" i="0" u="none" strike="noStrike" dirty="0">
              <a:solidFill>
                <a:srgbClr val="272727"/>
              </a:solidFill>
              <a:latin typeface="Tiro Tamil Regular"/>
              <a:cs typeface="Tiro Tamil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454400" y="4965700"/>
            <a:ext cx="17475200" cy="3708400"/>
          </a:xfrm>
          <a:prstGeom prst="rect">
            <a:avLst/>
          </a:prstGeom>
        </p:spPr>
        <p:txBody>
          <a:bodyPr lIns="0" tIns="20066" rIns="0" bIns="20066" rtlCol="0" anchor="ctr"/>
          <a:lstStyle/>
          <a:p>
            <a:pPr lvl="0" algn="ctr">
              <a:lnSpc>
                <a:spcPct val="113710"/>
              </a:lnSpc>
            </a:pPr>
            <a:r>
              <a:rPr lang="en-US" sz="10533" b="0" i="0" u="none" strike="noStrike" spc="2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3D 좌표계 &amp; 전기장</a:t>
            </a:r>
          </a:p>
          <a:p>
            <a:pPr lvl="0" algn="ctr">
              <a:lnSpc>
                <a:spcPct val="113710"/>
              </a:lnSpc>
            </a:pPr>
            <a:r>
              <a:rPr lang="en-US" sz="10533" b="0" i="0" u="none" strike="noStrike" spc="2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시각화 프로그램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9900" y="11468100"/>
            <a:ext cx="11493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682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20251529 신귀현, 20252640 도나은, 20252794 남건우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10600" y="11061700"/>
            <a:ext cx="1460500" cy="146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21983700" y="11595100"/>
            <a:ext cx="5207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900000">
            <a:off x="21983700" y="11976100"/>
            <a:ext cx="5207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3500" y="11785600"/>
            <a:ext cx="7874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프로젝트 주제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0800" y="7747000"/>
            <a:ext cx="11455400" cy="391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1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주요 기능:</a:t>
            </a:r>
          </a:p>
          <a:p>
            <a:pPr marL="342900" lvl="1" algn="l">
              <a:lnSpc>
                <a:spcPct val="132800"/>
              </a:lnSpc>
            </a:pPr>
            <a:r>
              <a:rPr lang="en-US" sz="4186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좌표계 변환</a:t>
            </a:r>
          </a:p>
          <a:p>
            <a:pPr marL="342900" lvl="1" algn="l">
              <a:lnSpc>
                <a:spcPct val="132800"/>
              </a:lnSpc>
            </a:pPr>
            <a:r>
              <a:rPr lang="en-US" sz="4186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두 점 사이의 관계</a:t>
            </a:r>
          </a:p>
          <a:p>
            <a:pPr marL="342900" lvl="1" algn="l">
              <a:lnSpc>
                <a:spcPct val="132800"/>
              </a:lnSpc>
            </a:pPr>
            <a:r>
              <a:rPr lang="en-US" sz="4186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전기장/전속 밀도 시각화</a:t>
            </a:r>
          </a:p>
          <a:p>
            <a:pPr lvl="0" algn="l">
              <a:lnSpc>
                <a:spcPct val="132800"/>
              </a:lnSpc>
            </a:pPr>
            <a:endParaRPr lang="en-US" sz="4186" b="0" i="0" u="none" strike="noStrike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6129000" y="5359400"/>
            <a:ext cx="5918200" cy="5295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20800" y="5638800"/>
            <a:ext cx="133350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프로젝트 주제 : 3D 좌표계 &amp; 전기장 시각화 프로그램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800" y="6731000"/>
            <a:ext cx="13322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1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사용한 AI tool</a:t>
            </a:r>
            <a:r>
              <a:rPr lang="en-US" sz="4186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: Gemini Pro, Claude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10600" y="11061700"/>
            <a:ext cx="1460500" cy="146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21983700" y="11595100"/>
            <a:ext cx="5207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900000">
            <a:off x="21983700" y="11976100"/>
            <a:ext cx="5207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3500" y="11785600"/>
            <a:ext cx="7874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프로젝트 주제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0800" y="8280400"/>
            <a:ext cx="14795500" cy="289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186" b="1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4186" b="1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개발</a:t>
            </a:r>
            <a:r>
              <a:rPr lang="en-US" sz="4186" b="1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4186" b="1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플랫폼</a:t>
            </a:r>
            <a:r>
              <a:rPr lang="en-US" sz="4186" b="1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(HTML) </a:t>
            </a:r>
            <a:r>
              <a:rPr lang="en-US" sz="4186" b="1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선정</a:t>
            </a:r>
            <a:r>
              <a:rPr lang="en-US" sz="4186" b="1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4186" b="1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이유</a:t>
            </a:r>
            <a:endParaRPr lang="en-US" sz="4186" b="1" i="0" u="none" strike="noStrike" dirty="0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  <a:p>
            <a:pPr marL="342900" lvl="1" algn="l">
              <a:lnSpc>
                <a:spcPct val="132800"/>
              </a:lnSpc>
            </a:pP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추후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배포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및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전공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보조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도구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활용에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적합</a:t>
            </a:r>
            <a:endParaRPr lang="en-US" sz="3519" b="0" i="0" u="none" strike="noStrike" dirty="0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  <a:p>
            <a:pPr marL="342900" lvl="1" algn="l">
              <a:lnSpc>
                <a:spcPct val="132800"/>
              </a:lnSpc>
            </a:pP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실제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사용자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시스템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환경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차이로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인한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구동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오류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가능성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차단</a:t>
            </a:r>
            <a:endParaRPr lang="en-US" sz="3519" b="0" i="0" u="none" strike="noStrike" dirty="0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  <a:p>
            <a:pPr marL="342900" lvl="1" algn="l">
              <a:lnSpc>
                <a:spcPct val="132800"/>
              </a:lnSpc>
            </a:pP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웹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브라우저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자체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하드웨어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가속을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통한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매끄러운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3D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공간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렌더링</a:t>
            </a:r>
            <a:r>
              <a:rPr lang="en-US" sz="3519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519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지원</a:t>
            </a:r>
            <a:endParaRPr lang="en-US" sz="3519" b="0" i="0" u="none" strike="noStrike" dirty="0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6129000" y="5359400"/>
            <a:ext cx="5918200" cy="5295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20800" y="5638800"/>
            <a:ext cx="133350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프로젝트 주제 : 3D 좌표계 &amp; 전기장 시각화 프로그램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800" y="6731000"/>
            <a:ext cx="13322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1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 HTML(웹 기반) 형식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프로젝트 선정 이유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0800" y="4889500"/>
            <a:ext cx="77216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3차원 전공 개념의 생소함 극복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79600" y="5880100"/>
            <a:ext cx="192532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- 2학년 진학 후 처음 접하는 3차원 공간 개념 및 상호작용의 한계
- 텍스트북 중심의 추상적 이론으로 인한 직관적 이해의 어려움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0800" y="7835900"/>
            <a:ext cx="78613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시각화를 통한 학습 효율 극대화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79600" y="8839200"/>
            <a:ext cx="192532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 복잡한 전자기장 구조를 직접 조작하고 확인하는 시각화 도구의 필요성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0800" y="10185400"/>
            <a:ext cx="27686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기대효과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79600" y="11201400"/>
            <a:ext cx="192532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개발 프로그램을 후배에게 배포함으로써 전공 진입 장벽 완화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프로젝트 주제 - 핵심 함수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7800" y="5295900"/>
            <a:ext cx="133350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 좌표계 변환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6400" y="6350000"/>
            <a:ext cx="13322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1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4186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핵심 함수: toCart, fromCart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6400" y="7404100"/>
            <a:ext cx="98044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기능 : 직교, 원통, 구면 좌표계를 서로 변환하여 하나의 3D 공간에 통합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4296" y="6159500"/>
            <a:ext cx="11772900" cy="5715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76400" y="9017000"/>
            <a:ext cx="9804400" cy="398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</a:t>
            </a: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 작동 방식 : 각도를 좌표로 변환하고, atan2를 통해 사분면을 고려한 정확한 각도를 산출함
toCart: 직교좌표계 변환 (3D 시각화의 기준 축)
fromCart: 좌표계 역변환 (사용자 데이터 출력)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프로젝트 주제 - 핵심 함수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8100" y="5054600"/>
            <a:ext cx="133350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두 점 사이의 관계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6400" y="6350000"/>
            <a:ext cx="133096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3733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3733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핵심 로직: vecAB (벡터 뺄셈)
decomposeVec (내적)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6400" y="7988300"/>
            <a:ext cx="98044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 기능: 점 A에서 B로 향하는 벡터를 구하고, 이를 각 좌표계 성분으로 분해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74500" y="5867400"/>
            <a:ext cx="11061700" cy="5283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76400" y="9601200"/>
            <a:ext cx="9817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작동 방식: 중첩의 원리 적용
(여러 종류의 전하가 공존하는 복잡한 전계 환경에서도 완벽한 벡터 합성 메커니즘 제공)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프로젝트 주제 - 핵심 함수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8100" y="5867400"/>
            <a:ext cx="13335000" cy="81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전기장/ 전속밀도 시각화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4500" y="7035800"/>
            <a:ext cx="133096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3733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3733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핵심 함수: computeE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4500" y="7988300"/>
            <a:ext cx="98044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 </a:t>
            </a: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기능: 여러 전하 소스에 의한 특정 지점의</a:t>
            </a:r>
          </a:p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총 전기장 및 전속밀도 계산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0857" y="5511800"/>
            <a:ext cx="11455400" cy="6286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76400" y="9601200"/>
            <a:ext cx="9817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37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작동 원리: 직교 벡터를 원통좌표계와 구면좌표계
성분으로 분해하는 전자기학 수식 알고리즘화 후 데이터를 바탕으로 웹 화면에 화살표를 렌더링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중간 발표 이후의 개선안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4100" y="4330700"/>
            <a:ext cx="10883900" cy="252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586" b="1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1. 두 </a:t>
            </a:r>
            <a:r>
              <a:rPr lang="en-US" sz="4586" b="1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가지</a:t>
            </a:r>
            <a:r>
              <a:rPr lang="en-US" sz="4586" b="1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4586" b="1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테마</a:t>
            </a:r>
            <a:r>
              <a:rPr lang="en-US" sz="4586" b="1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4586" b="1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추가</a:t>
            </a:r>
            <a:endParaRPr lang="en-US" sz="4586" b="1" i="0" u="none" strike="noStrike" dirty="0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  <a:p>
            <a:pPr marL="342900" lvl="1" algn="l">
              <a:lnSpc>
                <a:spcPct val="132800"/>
              </a:lnSpc>
            </a:pPr>
            <a:r>
              <a:rPr lang="en-US" sz="4586" b="1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 </a:t>
            </a:r>
            <a:r>
              <a:rPr lang="en-US" sz="3786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개선</a:t>
            </a:r>
            <a:r>
              <a:rPr lang="en-US" sz="3786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786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목적</a:t>
            </a:r>
            <a:r>
              <a:rPr lang="en-US" sz="3786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: </a:t>
            </a:r>
            <a:r>
              <a:rPr lang="en-US" sz="3786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학습</a:t>
            </a:r>
            <a:r>
              <a:rPr lang="en-US" sz="3786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786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환경에</a:t>
            </a:r>
            <a:r>
              <a:rPr lang="en-US" sz="3786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786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따른</a:t>
            </a:r>
            <a:r>
              <a:rPr lang="en-US" sz="3786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786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시각적</a:t>
            </a:r>
            <a:r>
              <a:rPr lang="en-US" sz="3786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3786" b="0" i="0" u="none" strike="noStrike" dirty="0" err="1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편의성</a:t>
            </a:r>
            <a:r>
              <a:rPr lang="en-US" sz="3786" b="0" i="0" u="none" strike="noStrike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 제</a:t>
            </a:r>
            <a:r>
              <a:rPr lang="ko-KR" altLang="en-US" sz="3786" dirty="0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공</a:t>
            </a:r>
            <a:endParaRPr lang="en-US" sz="3786" b="0" i="0" u="none" strike="noStrike" dirty="0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32800"/>
              </a:lnSpc>
            </a:pPr>
            <a:endParaRPr lang="en-US" sz="3786" b="0" i="0" u="none" strike="noStrike" dirty="0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6261100"/>
            <a:ext cx="9956800" cy="636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0" y="6261100"/>
            <a:ext cx="10033000" cy="6362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중간 발표 이후의 개선안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4500" y="6121400"/>
            <a:ext cx="22199600" cy="505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2. 전하 모델 고도화 : 특정 범위의 무한 선전하</a:t>
            </a:r>
          </a:p>
          <a:p>
            <a:pPr marL="342900" lvl="1" algn="l">
              <a:lnSpc>
                <a:spcPct val="132800"/>
              </a:lnSpc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 </a:t>
            </a:r>
            <a:r>
              <a:rPr lang="en-US" sz="3919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기존 기능의 한계 -&gt; 전하의 길이가 무한대인 '무한 선전하' 모델만 지원</a:t>
            </a:r>
            <a:br>
              <a:rPr lang="en-US" sz="3919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3919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                               -&gt; 실제 전공 문제 풀이나 현실적인 공학 해석을 반영하는 데 한계가 존재</a:t>
            </a:r>
          </a:p>
          <a:p>
            <a:pPr marL="342900" lvl="1" algn="l">
              <a:lnSpc>
                <a:spcPct val="132800"/>
              </a:lnSpc>
            </a:pPr>
            <a:endParaRPr lang="en-US" sz="3919" b="0" i="0" u="none" strike="noStrike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  <a:p>
            <a:pPr marL="342900" lvl="1" algn="l">
              <a:lnSpc>
                <a:spcPct val="132800"/>
              </a:lnSpc>
            </a:pPr>
            <a:r>
              <a:rPr lang="en-US" sz="3919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-</a:t>
            </a:r>
            <a:r>
              <a:rPr lang="en-US" sz="3919" b="0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 개선 및 구현 내용 : 선전하의 시작점과 끝점 좌표를 사용자가 직접 정의</a:t>
            </a:r>
          </a:p>
          <a:p>
            <a:pPr lvl="0" algn="l">
              <a:lnSpc>
                <a:spcPct val="132800"/>
              </a:lnSpc>
            </a:pPr>
            <a:endParaRPr lang="en-US" sz="3919" b="0" i="0" u="none" strike="noStrike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중간 발표 이후의 개선안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7900" y="4521200"/>
            <a:ext cx="22212300" cy="252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2. 전하 모델 고도화 : 특정 범위의 무한 선전하</a:t>
            </a:r>
          </a:p>
          <a:p>
            <a:pPr lvl="0" algn="l">
              <a:lnSpc>
                <a:spcPct val="132800"/>
              </a:lnSpc>
            </a:pPr>
            <a:endParaRPr lang="en-US" sz="4586" b="1" i="0" u="none" strike="noStrike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32800"/>
              </a:lnSpc>
            </a:pPr>
            <a:endParaRPr lang="en-US" sz="4586" b="1" i="0" u="none" strike="noStrike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1600" y="5422900"/>
            <a:ext cx="11480800" cy="7277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3000" y="5422900"/>
            <a:ext cx="7912100" cy="7289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중간 발표 이후의 개선안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7900" y="4330700"/>
            <a:ext cx="22212300" cy="252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4586" b="1" i="0" u="none" strike="noStrike">
                <a:solidFill>
                  <a:srgbClr val="272727"/>
                </a:solidFill>
                <a:latin typeface="Pretendard Light"/>
                <a:ea typeface="Pretendard Light"/>
                <a:cs typeface="Pretendard Light"/>
              </a:rPr>
              <a:t>3. 전기장 계산 알고리즘 최적화 및 수치 오차 개선 </a:t>
            </a:r>
          </a:p>
          <a:p>
            <a:pPr lvl="0" algn="l">
              <a:lnSpc>
                <a:spcPct val="132800"/>
              </a:lnSpc>
            </a:pPr>
            <a:endParaRPr lang="en-US" sz="4586" b="1" i="0" u="none" strike="noStrike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32800"/>
              </a:lnSpc>
            </a:pPr>
            <a:endParaRPr lang="en-US" sz="4586" b="1" i="0" u="none" strike="noStrike">
              <a:solidFill>
                <a:srgbClr val="272727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903200" y="12522200"/>
            <a:ext cx="15367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개선 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888200" y="12522200"/>
            <a:ext cx="15367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개선 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90900" y="10820400"/>
            <a:ext cx="4711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32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설정값: 점전하 Q=1 (1,2,3)</a:t>
            </a:r>
          </a:p>
          <a:p>
            <a:pPr lvl="0" algn="ctr">
              <a:lnSpc>
                <a:spcPct val="116199"/>
              </a:lnSpc>
            </a:pPr>
            <a:r>
              <a:rPr lang="en-US" sz="332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특정 점 위치 (3,0,0)</a:t>
            </a:r>
            <a:r>
              <a:rPr lang="en-US" sz="359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5359400"/>
            <a:ext cx="5588000" cy="7162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36700" y="5930900"/>
            <a:ext cx="90297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57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오차 원인 규명: 쿨롱 상수 k가 1로 치환되어  이론값보다 작게 연산되는 버그 발견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91100" y="5359400"/>
            <a:ext cx="5473700" cy="7226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4928" y="508000"/>
            <a:ext cx="546100" cy="254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00" y="482600"/>
            <a:ext cx="546100" cy="25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82600"/>
            <a:ext cx="23114000" cy="4343400"/>
          </a:xfrm>
          <a:prstGeom prst="rect">
            <a:avLst/>
          </a:prstGeom>
        </p:spPr>
      </p:pic>
      <p:pic>
        <p:nvPicPr>
          <p:cNvPr id="5" name="Picture 5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736600"/>
            <a:ext cx="23685500" cy="12496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123698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126238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84700" y="4838700"/>
            <a:ext cx="15214600" cy="2197100"/>
          </a:xfrm>
          <a:prstGeom prst="rect">
            <a:avLst/>
          </a:prstGeom>
        </p:spPr>
        <p:txBody>
          <a:bodyPr lIns="0" tIns="23573" rIns="0" bIns="23573" rtlCol="0" anchor="ctr"/>
          <a:lstStyle/>
          <a:p>
            <a:pPr lvl="0" algn="ctr">
              <a:lnSpc>
                <a:spcPct val="113710"/>
              </a:lnSpc>
            </a:pPr>
            <a:r>
              <a:rPr lang="en-US" sz="12374" b="1" i="0" u="none" strike="noStrike" spc="200">
                <a:solidFill>
                  <a:srgbClr val="272727"/>
                </a:solidFill>
                <a:latin typeface="Pretendard Regular"/>
                <a:ea typeface="Pretendard Regular"/>
                <a:cs typeface="Pretendard Regular"/>
              </a:rPr>
              <a:t>프로그램 구동 및 시연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C3B4A0-EB24-E781-5CCB-95E22D63A524}"/>
              </a:ext>
            </a:extLst>
          </p:cNvPr>
          <p:cNvSpPr txBox="1"/>
          <p:nvPr/>
        </p:nvSpPr>
        <p:spPr>
          <a:xfrm>
            <a:off x="4102100" y="7569200"/>
            <a:ext cx="161671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github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파일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857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링크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</a:t>
            </a:r>
            <a:r>
              <a:rPr lang="en-US" altLang="ko-KR" sz="3857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857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  <a:hlinkClick r:id="rId5"/>
              </a:rPr>
              <a:t>https://github.com/ehskdms06/3Dcoordinate</a:t>
            </a:r>
            <a:r>
              <a:rPr lang="en-US" altLang="ko-KR" sz="3857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endParaRPr lang="en-US" sz="3857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36703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36576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089400"/>
            <a:ext cx="23114000" cy="910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79500"/>
            <a:ext cx="23685500" cy="257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26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7366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100" y="1625600"/>
            <a:ext cx="17449800" cy="1752600"/>
          </a:xfrm>
          <a:prstGeom prst="rect">
            <a:avLst/>
          </a:prstGeom>
        </p:spPr>
        <p:txBody>
          <a:bodyPr lIns="0" tIns="18796" rIns="0" bIns="18796" rtlCol="0" anchor="ctr"/>
          <a:lstStyle/>
          <a:p>
            <a:pPr lvl="0" algn="ctr">
              <a:lnSpc>
                <a:spcPct val="113710"/>
              </a:lnSpc>
            </a:pPr>
            <a:r>
              <a:rPr lang="en-US" sz="9866" b="0" i="0" u="none" strike="noStrike" spc="100">
                <a:solidFill>
                  <a:srgbClr val="272727"/>
                </a:solidFill>
                <a:latin typeface="Pretendard SemiBold"/>
                <a:ea typeface="Pretendard SemiBold"/>
                <a:cs typeface="Pretendard SemiBold"/>
              </a:rPr>
              <a:t>느낀점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5715000"/>
            <a:ext cx="218059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4133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기존의 한계 :</a:t>
            </a:r>
            <a:r>
              <a:rPr lang="en-US" sz="41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 실생활이나 전공 학습의 불편함을 해결하고 싶어도 복잡한 코딩 구현 능력 부족으로 시도의 어려움이 있었음.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7912100"/>
            <a:ext cx="217424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4133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AI 활용의 의의 :</a:t>
            </a:r>
            <a:r>
              <a:rPr lang="en-US" sz="41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 고도화된 AI 기술을 가이드 삼아 아키텍처를 설계함으로써 실제 배포 및 사용 가능한</a:t>
            </a:r>
            <a:br>
              <a:rPr lang="en-US" sz="41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41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수준의 고품질 프로그램을 완성할 수 있음을 체감.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00" y="10109200"/>
            <a:ext cx="217551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4133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태도의 변화</a:t>
            </a:r>
            <a:r>
              <a:rPr lang="en-US" sz="4133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: 불편함을 수동적으로 수용하던 태도에서 벗어나, 아이디어와 AI를 결합하면 무엇이든 직접 해결할 수 있다는 것을 깨달음.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82600"/>
            <a:ext cx="23114000" cy="4343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82600"/>
            <a:ext cx="23685500" cy="1275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23698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126238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667500" y="8737600"/>
            <a:ext cx="110490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601200" y="5219700"/>
            <a:ext cx="5943600" cy="3530600"/>
          </a:xfrm>
          <a:prstGeom prst="rect">
            <a:avLst/>
          </a:prstGeom>
        </p:spPr>
        <p:txBody>
          <a:bodyPr lIns="0" tIns="37797" rIns="0" bIns="37797" rtlCol="0" anchor="ctr"/>
          <a:lstStyle/>
          <a:p>
            <a:pPr lvl="0" algn="l">
              <a:lnSpc>
                <a:spcPct val="113710"/>
              </a:lnSpc>
            </a:pPr>
            <a:r>
              <a:rPr lang="en-US" sz="19841" b="1" i="0" u="none" strike="noStrike" spc="300">
                <a:solidFill>
                  <a:srgbClr val="272727"/>
                </a:solidFill>
                <a:latin typeface="Pretendard Regular"/>
                <a:ea typeface="Pretendard Regular"/>
                <a:cs typeface="Pretendard Regular"/>
              </a:rPr>
              <a:t>Q&amp;A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0" y="2819400"/>
            <a:ext cx="482600" cy="2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2819400"/>
            <a:ext cx="4826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482600"/>
            <a:ext cx="23114000" cy="4343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3022600"/>
            <a:ext cx="23685500" cy="1021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12369800"/>
            <a:ext cx="23685500" cy="838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867900" y="12623800"/>
            <a:ext cx="4635500" cy="342900"/>
          </a:xfrm>
          <a:prstGeom prst="rect">
            <a:avLst/>
          </a:prstGeom>
        </p:spPr>
        <p:txBody>
          <a:bodyPr lIns="0" tIns="245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933" b="0" i="0" u="none" strike="noStrike" spc="-100">
                <a:solidFill>
                  <a:srgbClr val="FFFFFF"/>
                </a:solidFill>
                <a:latin typeface="Tiro Tamil Regular"/>
                <a:ea typeface="Tiro Tamil Regular"/>
                <a:cs typeface="Tiro Tamil Regular"/>
              </a:rPr>
              <a:t>Presentation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1358900" y="2400300"/>
            <a:ext cx="110490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69100" y="6057900"/>
            <a:ext cx="12014200" cy="3530600"/>
          </a:xfrm>
          <a:prstGeom prst="rect">
            <a:avLst/>
          </a:prstGeom>
        </p:spPr>
        <p:txBody>
          <a:bodyPr lIns="0" tIns="37797" rIns="0" bIns="37797" rtlCol="0" anchor="ctr"/>
          <a:lstStyle/>
          <a:p>
            <a:pPr lvl="0" algn="l">
              <a:lnSpc>
                <a:spcPct val="113710"/>
              </a:lnSpc>
            </a:pPr>
            <a:r>
              <a:rPr lang="en-US" sz="19841" b="1" i="0" u="none" strike="noStrike" spc="300">
                <a:solidFill>
                  <a:srgbClr val="272727"/>
                </a:solidFill>
                <a:latin typeface="Pretendard Regular"/>
                <a:ea typeface="Pretendard Regular"/>
                <a:cs typeface="Pretendard Regular"/>
              </a:rPr>
              <a:t>감사합니다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8900" y="1714500"/>
            <a:ext cx="114935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682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20251529 신귀현, 20252640 도나은, 20252794 남건우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599</Words>
  <Application>Microsoft Office PowerPoint</Application>
  <PresentationFormat>사용자 지정</PresentationFormat>
  <Paragraphs>82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Tiro Tamil Regular</vt:lpstr>
      <vt:lpstr>Pretendard Light</vt:lpstr>
      <vt:lpstr>Arial</vt:lpstr>
      <vt:lpstr>Pretendard Regular</vt:lpstr>
      <vt:lpstr>Calibri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도나은</cp:lastModifiedBy>
  <cp:revision>2</cp:revision>
  <dcterms:created xsi:type="dcterms:W3CDTF">2006-08-16T00:00:00Z</dcterms:created>
  <dcterms:modified xsi:type="dcterms:W3CDTF">2026-06-04T16:59:41Z</dcterms:modified>
</cp:coreProperties>
</file>